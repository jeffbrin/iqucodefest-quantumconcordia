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ssistant"/>
      <p:regular r:id="rId16"/>
      <p:bold r:id="rId17"/>
    </p:embeddedFont>
    <p:embeddedFont>
      <p:font typeface="Coda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ssistant-bold.fntdata"/><Relationship Id="rId16" Type="http://schemas.openxmlformats.org/officeDocument/2006/relationships/font" Target="fonts/Assistant-regular.fntdata"/><Relationship Id="rId18" Type="http://schemas.openxmlformats.org/officeDocument/2006/relationships/font" Target="fonts/Cod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ed5d2ff45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ed5d2ff4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74130f8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74130f8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74130f89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74130f89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74130f89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74130f89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74130f89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74130f89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74130f89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74130f89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74130f89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74130f89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74130f89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74130f89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74130f89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74130f89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ed75f95cf8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ed75f95cf8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5721" l="5708" r="6070" t="5713"/>
          <a:stretch/>
        </p:blipFill>
        <p:spPr>
          <a:xfrm rot="5400000">
            <a:off x="-850850" y="851500"/>
            <a:ext cx="5142200" cy="344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595675" y="1986350"/>
            <a:ext cx="4835100" cy="21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595675" y="4168550"/>
            <a:ext cx="4835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-10860" l="41273" r="0" t="10860"/>
          <a:stretch/>
        </p:blipFill>
        <p:spPr>
          <a:xfrm rot="5400000">
            <a:off x="3643126" y="-357376"/>
            <a:ext cx="5153172" cy="58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64098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26323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type="title"/>
          </p:nvPr>
        </p:nvSpPr>
        <p:spPr>
          <a:xfrm>
            <a:off x="1102425" y="2119738"/>
            <a:ext cx="3928500" cy="14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2240625" y="1280038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102425" y="3564663"/>
            <a:ext cx="39285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>
            <a:off x="5018673" y="0"/>
            <a:ext cx="4125326" cy="5143501"/>
            <a:chOff x="5018673" y="0"/>
            <a:chExt cx="4125326" cy="5143501"/>
          </a:xfrm>
        </p:grpSpPr>
        <p:pic>
          <p:nvPicPr>
            <p:cNvPr id="24" name="Google Shape;24;p4"/>
            <p:cNvPicPr preferRelativeResize="0"/>
            <p:nvPr/>
          </p:nvPicPr>
          <p:blipFill rotWithShape="1">
            <a:blip r:embed="rId2">
              <a:alphaModFix/>
            </a:blip>
            <a:srcRect b="0" l="0" r="70806" t="0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018673" y="0"/>
              <a:ext cx="3659254" cy="5143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20000" y="1167318"/>
            <a:ext cx="77040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"/>
          <p:cNvPicPr preferRelativeResize="0"/>
          <p:nvPr/>
        </p:nvPicPr>
        <p:blipFill rotWithShape="1">
          <a:blip r:embed="rId2">
            <a:alphaModFix/>
          </a:blip>
          <a:srcRect b="44568" l="0" r="0" t="25362"/>
          <a:stretch/>
        </p:blipFill>
        <p:spPr>
          <a:xfrm rot="10800000">
            <a:off x="-2" y="550"/>
            <a:ext cx="9164052" cy="183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/>
          <p:cNvPicPr preferRelativeResize="0"/>
          <p:nvPr/>
        </p:nvPicPr>
        <p:blipFill rotWithShape="1">
          <a:blip r:embed="rId3">
            <a:alphaModFix/>
          </a:blip>
          <a:srcRect b="0" l="39766" r="0" t="0"/>
          <a:stretch/>
        </p:blipFill>
        <p:spPr>
          <a:xfrm flipH="1" rot="-5400000">
            <a:off x="3485125" y="-3472100"/>
            <a:ext cx="2204051" cy="917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2757525" y="-2218025"/>
            <a:ext cx="3659250" cy="917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5021599" y="1930425"/>
            <a:ext cx="2505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1616801" y="3811725"/>
            <a:ext cx="2505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5021588" y="15280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1616801" y="34093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6"/>
          <p:cNvGrpSpPr/>
          <p:nvPr/>
        </p:nvGrpSpPr>
        <p:grpSpPr>
          <a:xfrm>
            <a:off x="0" y="-9675"/>
            <a:ext cx="1683876" cy="5153174"/>
            <a:chOff x="0" y="-9675"/>
            <a:chExt cx="1683876" cy="5153174"/>
          </a:xfrm>
        </p:grpSpPr>
        <p:pic>
          <p:nvPicPr>
            <p:cNvPr id="41" name="Google Shape;41;p6"/>
            <p:cNvPicPr preferRelativeResize="0"/>
            <p:nvPr/>
          </p:nvPicPr>
          <p:blipFill rotWithShape="1">
            <a:blip r:embed="rId2">
              <a:alphaModFix/>
            </a:blip>
            <a:srcRect b="29381" l="27337" r="13936" t="46145"/>
            <a:stretch/>
          </p:blipFill>
          <p:spPr>
            <a:xfrm flipH="1" rot="-5400000">
              <a:off x="-1860912" y="1851237"/>
              <a:ext cx="5153172" cy="1431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6"/>
            <p:cNvPicPr preferRelativeResize="0"/>
            <p:nvPr/>
          </p:nvPicPr>
          <p:blipFill rotWithShape="1">
            <a:blip r:embed="rId3">
              <a:alphaModFix/>
            </a:blip>
            <a:srcRect b="0" l="20902" r="36044" t="0"/>
            <a:stretch/>
          </p:blipFill>
          <p:spPr>
            <a:xfrm>
              <a:off x="0" y="0"/>
              <a:ext cx="1481850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/>
            <p:cNvPicPr preferRelativeResize="0"/>
            <p:nvPr/>
          </p:nvPicPr>
          <p:blipFill rotWithShape="1">
            <a:blip r:embed="rId3">
              <a:alphaModFix/>
            </a:blip>
            <a:srcRect b="0" l="15034" r="36042" t="0"/>
            <a:stretch/>
          </p:blipFill>
          <p:spPr>
            <a:xfrm>
              <a:off x="0" y="0"/>
              <a:ext cx="1683876" cy="51434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" name="Google Shape;44;p6"/>
          <p:cNvPicPr preferRelativeResize="0"/>
          <p:nvPr/>
        </p:nvPicPr>
        <p:blipFill rotWithShape="1">
          <a:blip r:embed="rId3">
            <a:alphaModFix/>
          </a:blip>
          <a:srcRect b="0" l="10396" r="36045" t="0"/>
          <a:stretch/>
        </p:blipFill>
        <p:spPr>
          <a:xfrm>
            <a:off x="0" y="0"/>
            <a:ext cx="18434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6650150" y="0"/>
            <a:ext cx="2908624" cy="5143501"/>
            <a:chOff x="6650150" y="0"/>
            <a:chExt cx="2908624" cy="5143501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b="0" l="29748" r="41058" t="0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650150" y="0"/>
              <a:ext cx="2908624" cy="5143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2424600" y="1727375"/>
            <a:ext cx="4294800" cy="212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 rotWithShape="1">
          <a:blip r:embed="rId2">
            <a:alphaModFix/>
          </a:blip>
          <a:srcRect b="19071" l="22817" r="22817" t="26563"/>
          <a:stretch/>
        </p:blipFill>
        <p:spPr>
          <a:xfrm flipH="1" rot="-5400000">
            <a:off x="4862787" y="853813"/>
            <a:ext cx="5137951" cy="34244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>
            <p:ph type="title"/>
          </p:nvPr>
        </p:nvSpPr>
        <p:spPr>
          <a:xfrm>
            <a:off x="1092475" y="1307100"/>
            <a:ext cx="41073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9"/>
          <p:cNvPicPr preferRelativeResize="0"/>
          <p:nvPr/>
        </p:nvPicPr>
        <p:blipFill rotWithShape="1">
          <a:blip r:embed="rId2">
            <a:alphaModFix/>
          </a:blip>
          <a:srcRect b="5882" l="0" r="0" t="31743"/>
          <a:stretch/>
        </p:blipFill>
        <p:spPr>
          <a:xfrm rot="10800000">
            <a:off x="-2" y="548"/>
            <a:ext cx="9164052" cy="381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2757525" y="-2218025"/>
            <a:ext cx="3659250" cy="91743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/>
          <p:nvPr>
            <p:ph type="title"/>
          </p:nvPr>
        </p:nvSpPr>
        <p:spPr>
          <a:xfrm>
            <a:off x="2135550" y="2523293"/>
            <a:ext cx="4872900" cy="10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2135550" y="3645107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type="title"/>
          </p:nvPr>
        </p:nvSpPr>
        <p:spPr>
          <a:xfrm>
            <a:off x="1653725" y="4014450"/>
            <a:ext cx="5836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1"/>
          <p:cNvPicPr preferRelativeResize="0"/>
          <p:nvPr/>
        </p:nvPicPr>
        <p:blipFill rotWithShape="1">
          <a:blip r:embed="rId2">
            <a:alphaModFix/>
          </a:blip>
          <a:srcRect b="-10860" l="41273" r="0" t="10860"/>
          <a:stretch/>
        </p:blipFill>
        <p:spPr>
          <a:xfrm flipH="1" rot="-5400000">
            <a:off x="271499" y="-357376"/>
            <a:ext cx="5153172" cy="58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246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221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3844375" y="1723725"/>
            <a:ext cx="4586400" cy="11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3844375" y="2922675"/>
            <a:ext cx="45864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/>
          <p:cNvPicPr preferRelativeResize="0"/>
          <p:nvPr/>
        </p:nvPicPr>
        <p:blipFill rotWithShape="1">
          <a:blip r:embed="rId2">
            <a:alphaModFix/>
          </a:blip>
          <a:srcRect b="47482" l="0" r="0" t="36350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subTitle"/>
          </p:nvPr>
        </p:nvSpPr>
        <p:spPr>
          <a:xfrm>
            <a:off x="872376" y="2045314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2" type="subTitle"/>
          </p:nvPr>
        </p:nvSpPr>
        <p:spPr>
          <a:xfrm>
            <a:off x="3419247" y="2045314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3" type="subTitle"/>
          </p:nvPr>
        </p:nvSpPr>
        <p:spPr>
          <a:xfrm>
            <a:off x="872376" y="3639537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4" type="subTitle"/>
          </p:nvPr>
        </p:nvSpPr>
        <p:spPr>
          <a:xfrm>
            <a:off x="3419247" y="3639537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5" type="subTitle"/>
          </p:nvPr>
        </p:nvSpPr>
        <p:spPr>
          <a:xfrm>
            <a:off x="5966124" y="2045314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6" type="subTitle"/>
          </p:nvPr>
        </p:nvSpPr>
        <p:spPr>
          <a:xfrm>
            <a:off x="5966124" y="3639537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7" type="title"/>
          </p:nvPr>
        </p:nvSpPr>
        <p:spPr>
          <a:xfrm>
            <a:off x="1657776" y="121295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hasCustomPrompt="1" idx="8" type="title"/>
          </p:nvPr>
        </p:nvSpPr>
        <p:spPr>
          <a:xfrm>
            <a:off x="1657776" y="2806589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9" type="title"/>
          </p:nvPr>
        </p:nvSpPr>
        <p:spPr>
          <a:xfrm>
            <a:off x="4204647" y="121295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3" type="title"/>
          </p:nvPr>
        </p:nvSpPr>
        <p:spPr>
          <a:xfrm>
            <a:off x="4204647" y="2806589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hasCustomPrompt="1" idx="14" type="title"/>
          </p:nvPr>
        </p:nvSpPr>
        <p:spPr>
          <a:xfrm>
            <a:off x="6751524" y="121295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15" type="title"/>
          </p:nvPr>
        </p:nvSpPr>
        <p:spPr>
          <a:xfrm>
            <a:off x="6751524" y="2806589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idx="16" type="subTitle"/>
          </p:nvPr>
        </p:nvSpPr>
        <p:spPr>
          <a:xfrm>
            <a:off x="872376" y="171335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7" type="subTitle"/>
          </p:nvPr>
        </p:nvSpPr>
        <p:spPr>
          <a:xfrm>
            <a:off x="3419247" y="171335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8" type="subTitle"/>
          </p:nvPr>
        </p:nvSpPr>
        <p:spPr>
          <a:xfrm>
            <a:off x="5966124" y="171335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9" type="subTitle"/>
          </p:nvPr>
        </p:nvSpPr>
        <p:spPr>
          <a:xfrm>
            <a:off x="872376" y="3307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20" type="subTitle"/>
          </p:nvPr>
        </p:nvSpPr>
        <p:spPr>
          <a:xfrm>
            <a:off x="3419247" y="3307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21" type="subTitle"/>
          </p:nvPr>
        </p:nvSpPr>
        <p:spPr>
          <a:xfrm>
            <a:off x="5966124" y="3307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pic>
        <p:nvPicPr>
          <p:cNvPr id="99" name="Google Shape;9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1487106" y="3015326"/>
            <a:ext cx="61698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3" name="Google Shape;103;p14"/>
          <p:cNvSpPr txBox="1"/>
          <p:nvPr>
            <p:ph idx="1" type="subTitle"/>
          </p:nvPr>
        </p:nvSpPr>
        <p:spPr>
          <a:xfrm>
            <a:off x="1487094" y="1041463"/>
            <a:ext cx="61698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47482" l="0" r="0" t="36350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79326" y="-89825"/>
            <a:ext cx="985348" cy="9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 rotWithShape="1">
          <a:blip r:embed="rId2">
            <a:alphaModFix/>
          </a:blip>
          <a:srcRect b="15286" l="6240" r="6240" t="30123"/>
          <a:stretch/>
        </p:blipFill>
        <p:spPr>
          <a:xfrm rot="5400000">
            <a:off x="-1500862" y="1506606"/>
            <a:ext cx="5137756" cy="2136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12600" y="1"/>
            <a:ext cx="236627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15" name="Google Shape;115;p16"/>
          <p:cNvPicPr preferRelativeResize="0"/>
          <p:nvPr/>
        </p:nvPicPr>
        <p:blipFill rotWithShape="1">
          <a:blip r:embed="rId2">
            <a:alphaModFix/>
          </a:blip>
          <a:srcRect b="52462" l="0" r="1254" t="18072"/>
          <a:stretch/>
        </p:blipFill>
        <p:spPr>
          <a:xfrm>
            <a:off x="0" y="3325075"/>
            <a:ext cx="9143997" cy="181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 rotWithShape="1">
          <a:blip r:embed="rId2">
            <a:alphaModFix/>
          </a:blip>
          <a:srcRect b="27588" l="6395" r="34878" t="32161"/>
          <a:stretch/>
        </p:blipFill>
        <p:spPr>
          <a:xfrm rot="5400000">
            <a:off x="5390363" y="1389862"/>
            <a:ext cx="5153172" cy="235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35695" r="0" t="0"/>
          <a:stretch/>
        </p:blipFill>
        <p:spPr>
          <a:xfrm flipH="1">
            <a:off x="6718725" y="0"/>
            <a:ext cx="24252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/>
          <p:cNvPicPr preferRelativeResize="0"/>
          <p:nvPr/>
        </p:nvPicPr>
        <p:blipFill rotWithShape="1">
          <a:blip r:embed="rId2">
            <a:alphaModFix/>
          </a:blip>
          <a:srcRect b="1530" l="41273" r="0" t="58219"/>
          <a:stretch/>
        </p:blipFill>
        <p:spPr>
          <a:xfrm flipH="1" rot="-5400000">
            <a:off x="-1399538" y="1389862"/>
            <a:ext cx="5153172" cy="235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24964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>
            <p:ph type="title"/>
          </p:nvPr>
        </p:nvSpPr>
        <p:spPr>
          <a:xfrm>
            <a:off x="879325" y="1183380"/>
            <a:ext cx="3519600" cy="181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879325" y="2997120"/>
            <a:ext cx="3519600" cy="9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8"/>
          <p:cNvSpPr/>
          <p:nvPr>
            <p:ph idx="2" type="pic"/>
          </p:nvPr>
        </p:nvSpPr>
        <p:spPr>
          <a:xfrm>
            <a:off x="4902275" y="880200"/>
            <a:ext cx="3362400" cy="338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2449050" y="539500"/>
            <a:ext cx="4245900" cy="6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2449050" y="1207300"/>
            <a:ext cx="42459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2" name="Google Shape;132;p19"/>
          <p:cNvGrpSpPr/>
          <p:nvPr/>
        </p:nvGrpSpPr>
        <p:grpSpPr>
          <a:xfrm>
            <a:off x="6492099" y="0"/>
            <a:ext cx="2651899" cy="5143501"/>
            <a:chOff x="6492099" y="0"/>
            <a:chExt cx="2651899" cy="5143501"/>
          </a:xfrm>
        </p:grpSpPr>
        <p:pic>
          <p:nvPicPr>
            <p:cNvPr id="133" name="Google Shape;133;p19"/>
            <p:cNvPicPr preferRelativeResize="0"/>
            <p:nvPr/>
          </p:nvPicPr>
          <p:blipFill rotWithShape="1">
            <a:blip r:embed="rId2">
              <a:alphaModFix/>
            </a:blip>
            <a:srcRect b="0" l="0" r="70806" t="0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492099" y="0"/>
              <a:ext cx="2185825" cy="5143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032962" y="1547103"/>
            <a:ext cx="3593400" cy="7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1" type="subTitle"/>
          </p:nvPr>
        </p:nvSpPr>
        <p:spPr>
          <a:xfrm>
            <a:off x="4032962" y="2289600"/>
            <a:ext cx="3593400" cy="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b="47482" l="0" r="0" t="36350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1"/>
          <p:cNvGrpSpPr/>
          <p:nvPr/>
        </p:nvGrpSpPr>
        <p:grpSpPr>
          <a:xfrm>
            <a:off x="5018673" y="0"/>
            <a:ext cx="4125326" cy="5143501"/>
            <a:chOff x="5018673" y="0"/>
            <a:chExt cx="4125326" cy="5143501"/>
          </a:xfrm>
        </p:grpSpPr>
        <p:pic>
          <p:nvPicPr>
            <p:cNvPr id="144" name="Google Shape;144;p21"/>
            <p:cNvPicPr preferRelativeResize="0"/>
            <p:nvPr/>
          </p:nvPicPr>
          <p:blipFill rotWithShape="1">
            <a:blip r:embed="rId2">
              <a:alphaModFix/>
            </a:blip>
            <a:srcRect b="0" l="0" r="70806" t="0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018673" y="0"/>
              <a:ext cx="3659254" cy="51434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-1636" r="0" t="0"/>
          <a:stretch/>
        </p:blipFill>
        <p:spPr>
          <a:xfrm flipH="1">
            <a:off x="5543573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720000" y="1167379"/>
            <a:ext cx="7704000" cy="34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2"/>
          <p:cNvPicPr preferRelativeResize="0"/>
          <p:nvPr/>
        </p:nvPicPr>
        <p:blipFill rotWithShape="1">
          <a:blip r:embed="rId2">
            <a:alphaModFix/>
          </a:blip>
          <a:srcRect b="15286" l="6240" r="6240" t="30123"/>
          <a:stretch/>
        </p:blipFill>
        <p:spPr>
          <a:xfrm rot="-5400000">
            <a:off x="5494507" y="1500862"/>
            <a:ext cx="5137756" cy="2136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777725" y="2"/>
            <a:ext cx="236627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720000" y="1167356"/>
            <a:ext cx="7704000" cy="16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3"/>
          <p:cNvPicPr preferRelativeResize="0"/>
          <p:nvPr/>
        </p:nvPicPr>
        <p:blipFill rotWithShape="1">
          <a:blip r:embed="rId2">
            <a:alphaModFix/>
          </a:blip>
          <a:srcRect b="0" l="0" r="70806" t="0"/>
          <a:stretch/>
        </p:blipFill>
        <p:spPr>
          <a:xfrm>
            <a:off x="6891025" y="0"/>
            <a:ext cx="22529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018673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018673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1" type="subTitle"/>
          </p:nvPr>
        </p:nvSpPr>
        <p:spPr>
          <a:xfrm>
            <a:off x="5181724" y="3099625"/>
            <a:ext cx="25869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2" type="subTitle"/>
          </p:nvPr>
        </p:nvSpPr>
        <p:spPr>
          <a:xfrm>
            <a:off x="1375350" y="2261425"/>
            <a:ext cx="25869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3"/>
          <p:cNvSpPr txBox="1"/>
          <p:nvPr>
            <p:ph idx="3" type="subTitle"/>
          </p:nvPr>
        </p:nvSpPr>
        <p:spPr>
          <a:xfrm>
            <a:off x="1375360" y="1702525"/>
            <a:ext cx="2586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4" type="subTitle"/>
          </p:nvPr>
        </p:nvSpPr>
        <p:spPr>
          <a:xfrm>
            <a:off x="5181738" y="2540725"/>
            <a:ext cx="2586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idx="1" type="subTitle"/>
          </p:nvPr>
        </p:nvSpPr>
        <p:spPr>
          <a:xfrm>
            <a:off x="1905300" y="3098314"/>
            <a:ext cx="5333400" cy="11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2" type="subTitle"/>
          </p:nvPr>
        </p:nvSpPr>
        <p:spPr>
          <a:xfrm>
            <a:off x="1905300" y="1624684"/>
            <a:ext cx="5333400" cy="11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2">
            <a:alphaModFix/>
          </a:blip>
          <a:srcRect b="39291" l="17623" r="15724" t="16901"/>
          <a:stretch/>
        </p:blipFill>
        <p:spPr>
          <a:xfrm rot="5400000">
            <a:off x="-1458063" y="1446012"/>
            <a:ext cx="5143900" cy="225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5"/>
          <p:cNvPicPr preferRelativeResize="0"/>
          <p:nvPr/>
        </p:nvPicPr>
        <p:blipFill rotWithShape="1">
          <a:blip r:embed="rId2">
            <a:alphaModFix/>
          </a:blip>
          <a:srcRect b="0" l="0" r="70806" t="0"/>
          <a:stretch/>
        </p:blipFill>
        <p:spPr>
          <a:xfrm flipH="1">
            <a:off x="-37390" y="0"/>
            <a:ext cx="22529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57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907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937625" y="2332395"/>
            <a:ext cx="21753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2" type="subTitle"/>
          </p:nvPr>
        </p:nvSpPr>
        <p:spPr>
          <a:xfrm>
            <a:off x="3484347" y="3322995"/>
            <a:ext cx="21753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idx="3" type="subTitle"/>
          </p:nvPr>
        </p:nvSpPr>
        <p:spPr>
          <a:xfrm>
            <a:off x="6031075" y="2332395"/>
            <a:ext cx="21753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idx="4" type="subTitle"/>
          </p:nvPr>
        </p:nvSpPr>
        <p:spPr>
          <a:xfrm>
            <a:off x="937625" y="1676879"/>
            <a:ext cx="21753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181" name="Google Shape;181;p25"/>
          <p:cNvSpPr txBox="1"/>
          <p:nvPr>
            <p:ph idx="5" type="subTitle"/>
          </p:nvPr>
        </p:nvSpPr>
        <p:spPr>
          <a:xfrm>
            <a:off x="3484350" y="2667479"/>
            <a:ext cx="21753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6" type="subTitle"/>
          </p:nvPr>
        </p:nvSpPr>
        <p:spPr>
          <a:xfrm>
            <a:off x="6031075" y="1676879"/>
            <a:ext cx="21753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2891511" y="190659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2" type="subTitle"/>
          </p:nvPr>
        </p:nvSpPr>
        <p:spPr>
          <a:xfrm>
            <a:off x="5657064" y="190659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6"/>
          <p:cNvSpPr txBox="1"/>
          <p:nvPr>
            <p:ph idx="3" type="subTitle"/>
          </p:nvPr>
        </p:nvSpPr>
        <p:spPr>
          <a:xfrm>
            <a:off x="1508736" y="324466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4" type="subTitle"/>
          </p:nvPr>
        </p:nvSpPr>
        <p:spPr>
          <a:xfrm>
            <a:off x="4274289" y="324466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6"/>
          <p:cNvSpPr txBox="1"/>
          <p:nvPr>
            <p:ph idx="5" type="subTitle"/>
          </p:nvPr>
        </p:nvSpPr>
        <p:spPr>
          <a:xfrm>
            <a:off x="2891511" y="14703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6" type="subTitle"/>
          </p:nvPr>
        </p:nvSpPr>
        <p:spPr>
          <a:xfrm>
            <a:off x="1508736" y="28085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7" type="subTitle"/>
          </p:nvPr>
        </p:nvSpPr>
        <p:spPr>
          <a:xfrm>
            <a:off x="5657061" y="14703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8" type="subTitle"/>
          </p:nvPr>
        </p:nvSpPr>
        <p:spPr>
          <a:xfrm>
            <a:off x="4274286" y="28085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pic>
        <p:nvPicPr>
          <p:cNvPr id="194" name="Google Shape;194;p26"/>
          <p:cNvPicPr preferRelativeResize="0"/>
          <p:nvPr/>
        </p:nvPicPr>
        <p:blipFill rotWithShape="1">
          <a:blip r:embed="rId2">
            <a:alphaModFix/>
          </a:blip>
          <a:srcRect b="47482" l="0" r="0" t="36350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79326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7"/>
          <p:cNvPicPr preferRelativeResize="0"/>
          <p:nvPr/>
        </p:nvPicPr>
        <p:blipFill rotWithShape="1">
          <a:blip r:embed="rId2">
            <a:alphaModFix/>
          </a:blip>
          <a:srcRect b="18357" l="349" r="0" t="19268"/>
          <a:stretch/>
        </p:blipFill>
        <p:spPr>
          <a:xfrm rot="5400000">
            <a:off x="-1525114" y="1490063"/>
            <a:ext cx="5169577" cy="215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666" l="0" r="0" t="0"/>
          <a:stretch/>
        </p:blipFill>
        <p:spPr>
          <a:xfrm flipH="1" rot="10800000">
            <a:off x="143775" y="-5852"/>
            <a:ext cx="2071576" cy="51591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7"/>
          <p:cNvSpPr txBox="1"/>
          <p:nvPr>
            <p:ph idx="1" type="subTitle"/>
          </p:nvPr>
        </p:nvSpPr>
        <p:spPr>
          <a:xfrm>
            <a:off x="1108627" y="2091836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7"/>
          <p:cNvSpPr txBox="1"/>
          <p:nvPr>
            <p:ph idx="2" type="subTitle"/>
          </p:nvPr>
        </p:nvSpPr>
        <p:spPr>
          <a:xfrm>
            <a:off x="3579000" y="2091836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3" type="subTitle"/>
          </p:nvPr>
        </p:nvSpPr>
        <p:spPr>
          <a:xfrm>
            <a:off x="1108627" y="34233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7"/>
          <p:cNvSpPr txBox="1"/>
          <p:nvPr>
            <p:ph idx="4" type="subTitle"/>
          </p:nvPr>
        </p:nvSpPr>
        <p:spPr>
          <a:xfrm>
            <a:off x="3579000" y="34233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7"/>
          <p:cNvSpPr txBox="1"/>
          <p:nvPr>
            <p:ph idx="5" type="subTitle"/>
          </p:nvPr>
        </p:nvSpPr>
        <p:spPr>
          <a:xfrm>
            <a:off x="6049373" y="2091836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idx="6" type="subTitle"/>
          </p:nvPr>
        </p:nvSpPr>
        <p:spPr>
          <a:xfrm>
            <a:off x="6049373" y="34233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idx="7" type="subTitle"/>
          </p:nvPr>
        </p:nvSpPr>
        <p:spPr>
          <a:xfrm>
            <a:off x="1109527" y="1659658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8" type="subTitle"/>
          </p:nvPr>
        </p:nvSpPr>
        <p:spPr>
          <a:xfrm>
            <a:off x="3579900" y="1659658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9" type="subTitle"/>
          </p:nvPr>
        </p:nvSpPr>
        <p:spPr>
          <a:xfrm>
            <a:off x="6050273" y="1659658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13" type="subTitle"/>
          </p:nvPr>
        </p:nvSpPr>
        <p:spPr>
          <a:xfrm>
            <a:off x="1109527" y="2991148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4" type="subTitle"/>
          </p:nvPr>
        </p:nvSpPr>
        <p:spPr>
          <a:xfrm>
            <a:off x="3579900" y="2991148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213" name="Google Shape;213;p27"/>
          <p:cNvSpPr txBox="1"/>
          <p:nvPr>
            <p:ph idx="15" type="subTitle"/>
          </p:nvPr>
        </p:nvSpPr>
        <p:spPr>
          <a:xfrm>
            <a:off x="6050273" y="2991148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214" name="Google Shape;214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hasCustomPrompt="1" type="title"/>
          </p:nvPr>
        </p:nvSpPr>
        <p:spPr>
          <a:xfrm>
            <a:off x="3014700" y="61373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" name="Google Shape;217;p28"/>
          <p:cNvSpPr txBox="1"/>
          <p:nvPr>
            <p:ph idx="1" type="subTitle"/>
          </p:nvPr>
        </p:nvSpPr>
        <p:spPr>
          <a:xfrm>
            <a:off x="3014700" y="1226454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hasCustomPrompt="1" idx="2" type="title"/>
          </p:nvPr>
        </p:nvSpPr>
        <p:spPr>
          <a:xfrm>
            <a:off x="3014700" y="1965990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9" name="Google Shape;219;p28"/>
          <p:cNvSpPr txBox="1"/>
          <p:nvPr>
            <p:ph idx="3" type="subTitle"/>
          </p:nvPr>
        </p:nvSpPr>
        <p:spPr>
          <a:xfrm>
            <a:off x="3014700" y="2578710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hasCustomPrompt="1" idx="4" type="title"/>
          </p:nvPr>
        </p:nvSpPr>
        <p:spPr>
          <a:xfrm>
            <a:off x="3014700" y="3318246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1" name="Google Shape;221;p28"/>
          <p:cNvSpPr txBox="1"/>
          <p:nvPr>
            <p:ph idx="5" type="subTitle"/>
          </p:nvPr>
        </p:nvSpPr>
        <p:spPr>
          <a:xfrm>
            <a:off x="3014700" y="3930966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22" name="Google Shape;222;p28"/>
          <p:cNvPicPr preferRelativeResize="0"/>
          <p:nvPr/>
        </p:nvPicPr>
        <p:blipFill rotWithShape="1">
          <a:blip r:embed="rId2">
            <a:alphaModFix/>
          </a:blip>
          <a:srcRect b="30225" l="30221" r="30383" t="30225"/>
          <a:stretch/>
        </p:blipFill>
        <p:spPr>
          <a:xfrm rot="5400000">
            <a:off x="-850850" y="851500"/>
            <a:ext cx="5142200" cy="344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2099094" y="5395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9"/>
          <p:cNvSpPr txBox="1"/>
          <p:nvPr>
            <p:ph idx="1" type="subTitle"/>
          </p:nvPr>
        </p:nvSpPr>
        <p:spPr>
          <a:xfrm>
            <a:off x="2099108" y="1513050"/>
            <a:ext cx="4945800" cy="12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7" name="Google Shape;227;p29"/>
          <p:cNvPicPr preferRelativeResize="0"/>
          <p:nvPr/>
        </p:nvPicPr>
        <p:blipFill rotWithShape="1">
          <a:blip r:embed="rId2">
            <a:alphaModFix/>
          </a:blip>
          <a:srcRect b="47482" l="0" r="0" t="36350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14725" y="25825"/>
            <a:ext cx="1134599" cy="9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2099092" y="2751591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CREDITS: This presentation template was created by </a:t>
            </a:r>
            <a:r>
              <a:rPr lang="en" sz="1200" u="sng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, and includes icons by </a:t>
            </a:r>
            <a:r>
              <a:rPr lang="en" sz="1200" u="sng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, and infographics &amp; images by </a:t>
            </a:r>
            <a:r>
              <a:rPr lang="en" sz="1200" u="sng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 u="sng">
              <a:solidFill>
                <a:schemeClr val="dk1"/>
              </a:solidFill>
              <a:latin typeface="Coda"/>
              <a:ea typeface="Coda"/>
              <a:cs typeface="Coda"/>
              <a:sym typeface="Coda"/>
            </a:endParaRPr>
          </a:p>
        </p:txBody>
      </p:sp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0"/>
          <p:cNvPicPr preferRelativeResize="0"/>
          <p:nvPr/>
        </p:nvPicPr>
        <p:blipFill rotWithShape="1">
          <a:blip r:embed="rId2">
            <a:alphaModFix/>
          </a:blip>
          <a:srcRect b="-21538" l="17495" r="26807" t="37142"/>
          <a:stretch/>
        </p:blipFill>
        <p:spPr>
          <a:xfrm>
            <a:off x="0" y="0"/>
            <a:ext cx="50931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31"/>
          <p:cNvGrpSpPr/>
          <p:nvPr/>
        </p:nvGrpSpPr>
        <p:grpSpPr>
          <a:xfrm>
            <a:off x="5018673" y="0"/>
            <a:ext cx="4125326" cy="5143501"/>
            <a:chOff x="5018673" y="0"/>
            <a:chExt cx="4125326" cy="5143501"/>
          </a:xfrm>
        </p:grpSpPr>
        <p:pic>
          <p:nvPicPr>
            <p:cNvPr id="236" name="Google Shape;236;p31"/>
            <p:cNvPicPr preferRelativeResize="0"/>
            <p:nvPr/>
          </p:nvPicPr>
          <p:blipFill rotWithShape="1">
            <a:blip r:embed="rId2">
              <a:alphaModFix/>
            </a:blip>
            <a:srcRect b="0" l="0" r="70806" t="0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018673" y="0"/>
              <a:ext cx="3659254" cy="5143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b="1"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b="1"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b="1"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b="1"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b="1"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b="1"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b="1"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b="1"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type="ctrTitle"/>
          </p:nvPr>
        </p:nvSpPr>
        <p:spPr>
          <a:xfrm>
            <a:off x="2281700" y="820500"/>
            <a:ext cx="6196800" cy="16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0000"/>
                </a:solidFill>
              </a:rPr>
              <a:t>i</a:t>
            </a:r>
            <a:r>
              <a:rPr lang="en" sz="4000">
                <a:solidFill>
                  <a:srgbClr val="FFFF00"/>
                </a:solidFill>
              </a:rPr>
              <a:t>Qu</a:t>
            </a:r>
            <a:r>
              <a:rPr lang="en" sz="4000">
                <a:solidFill>
                  <a:srgbClr val="00FF00"/>
                </a:solidFill>
              </a:rPr>
              <a:t>Co</a:t>
            </a:r>
            <a:r>
              <a:rPr lang="en" sz="4000">
                <a:solidFill>
                  <a:srgbClr val="6D9EEB"/>
                </a:solidFill>
              </a:rPr>
              <a:t>de</a:t>
            </a:r>
            <a:r>
              <a:rPr lang="en" sz="4000"/>
              <a:t>Fest</a:t>
            </a:r>
            <a:r>
              <a:rPr lang="en" sz="4000">
                <a:solidFill>
                  <a:srgbClr val="FFFF00"/>
                </a:solidFill>
              </a:rPr>
              <a:t> 2026</a:t>
            </a:r>
            <a:endParaRPr sz="40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9900"/>
                </a:solidFill>
              </a:rPr>
              <a:t>Quant</a:t>
            </a:r>
            <a:r>
              <a:rPr lang="en" sz="4000"/>
              <a:t>um </a:t>
            </a:r>
            <a:r>
              <a:rPr lang="en" sz="4000">
                <a:solidFill>
                  <a:srgbClr val="FF0000"/>
                </a:solidFill>
              </a:rPr>
              <a:t>Concor</a:t>
            </a:r>
            <a:r>
              <a:rPr lang="en" sz="4000"/>
              <a:t>dia</a:t>
            </a:r>
            <a:endParaRPr sz="4000"/>
          </a:p>
        </p:txBody>
      </p:sp>
      <p:sp>
        <p:nvSpPr>
          <p:cNvPr id="244" name="Google Shape;244;p32"/>
          <p:cNvSpPr txBox="1"/>
          <p:nvPr>
            <p:ph idx="1" type="subTitle"/>
          </p:nvPr>
        </p:nvSpPr>
        <p:spPr>
          <a:xfrm>
            <a:off x="2281700" y="2983250"/>
            <a:ext cx="6522000" cy="17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CE5CD"/>
                </a:solidFill>
              </a:rPr>
              <a:t>“Nature isn’t classical, dammit, and if you want to make a simulation of nature, you’d better make it quantum mechanical.” — Richard Feynman </a:t>
            </a:r>
            <a:endParaRPr>
              <a:solidFill>
                <a:srgbClr val="FCE5C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</a:rPr>
              <a:t>TEAM</a:t>
            </a:r>
            <a:r>
              <a:rPr lang="en" sz="1400"/>
              <a:t>: Kwali Duval , </a:t>
            </a:r>
            <a:r>
              <a:rPr lang="en" sz="1400"/>
              <a:t>Cyril Costes, </a:t>
            </a:r>
            <a:r>
              <a:rPr lang="en" sz="1400"/>
              <a:t>Theo-Dayan Rodriguez, Ivan Kamisarau, Jeffrey Bringolf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18288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 sz="1300"/>
          </a:p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105100" y="1994075"/>
            <a:ext cx="5230200" cy="14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Image Analysis</a:t>
            </a:r>
            <a:endParaRPr/>
          </a:p>
        </p:txBody>
      </p:sp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753625" y="142450"/>
            <a:ext cx="80778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Motivation &amp; Problem Statement </a:t>
            </a:r>
            <a:endParaRPr/>
          </a:p>
        </p:txBody>
      </p:sp>
      <p:sp>
        <p:nvSpPr>
          <p:cNvPr id="257" name="Google Shape;257;p34"/>
          <p:cNvSpPr txBox="1"/>
          <p:nvPr>
            <p:ph idx="1" type="subTitle"/>
          </p:nvPr>
        </p:nvSpPr>
        <p:spPr>
          <a:xfrm>
            <a:off x="753625" y="865275"/>
            <a:ext cx="5915100" cy="4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Large Image datasets often contain </a:t>
            </a:r>
            <a:r>
              <a:rPr b="1" lang="en" sz="1700"/>
              <a:t>redundant or repeated regions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Images are split into m </a:t>
            </a:r>
            <a:r>
              <a:rPr lang="en" sz="1700"/>
              <a:t>patch</a:t>
            </a:r>
            <a:r>
              <a:rPr lang="en" sz="1700"/>
              <a:t>s: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D(i) = </a:t>
            </a:r>
            <a:r>
              <a:rPr lang="en" sz="1700"/>
              <a:t>patch_i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Goal: find any pair (i,j) i≠j , such that: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D(i)=D(j)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This is an </a:t>
            </a:r>
            <a:r>
              <a:rPr b="1" lang="en" sz="1700"/>
              <a:t>all-pairs duplicate search problem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Classical brute-force approach requires: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n : number of pixels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O(n^2)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Even optimized hashing struggles with: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Near-duplicates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noisy transformations (rotation, scaling, compression)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975" y="1542975"/>
            <a:ext cx="2482450" cy="2482450"/>
          </a:xfrm>
          <a:prstGeom prst="rect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809650" y="445025"/>
            <a:ext cx="80778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Image Representation </a:t>
            </a:r>
            <a:endParaRPr/>
          </a:p>
        </p:txBody>
      </p:sp>
      <p:sp>
        <p:nvSpPr>
          <p:cNvPr id="265" name="Google Shape;265;p35"/>
          <p:cNvSpPr txBox="1"/>
          <p:nvPr>
            <p:ph idx="1" type="subTitle"/>
          </p:nvPr>
        </p:nvSpPr>
        <p:spPr>
          <a:xfrm>
            <a:off x="1301125" y="1403225"/>
            <a:ext cx="7340700" cy="33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Small binary patches → encoded as bitstrings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Image is divided into fixed-size patches (size n/m)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Each patch is flattened into a bitstring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Goal is to compare raw pixels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Each patch represents a local visual region of the image, encoded as a binary feature vector </a:t>
            </a:r>
            <a:endParaRPr/>
          </a:p>
        </p:txBody>
      </p:sp>
      <p:sp>
        <p:nvSpPr>
          <p:cNvPr id="266" name="Google Shape;266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type="title"/>
          </p:nvPr>
        </p:nvSpPr>
        <p:spPr>
          <a:xfrm>
            <a:off x="607950" y="445025"/>
            <a:ext cx="8391600" cy="9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Quantum </a:t>
            </a:r>
            <a:r>
              <a:rPr lang="en" sz="3700"/>
              <a:t>Reformulation of the Problem</a:t>
            </a:r>
            <a:endParaRPr sz="3200"/>
          </a:p>
        </p:txBody>
      </p:sp>
      <p:sp>
        <p:nvSpPr>
          <p:cNvPr id="272" name="Google Shape;272;p36"/>
          <p:cNvSpPr txBox="1"/>
          <p:nvPr>
            <p:ph idx="1" type="subTitle"/>
          </p:nvPr>
        </p:nvSpPr>
        <p:spPr>
          <a:xfrm>
            <a:off x="1558800" y="1179075"/>
            <a:ext cx="6869400" cy="3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Convert duplicate detection into a search problem over pairs</a:t>
            </a:r>
            <a:endParaRPr sz="1700">
              <a:solidFill>
                <a:schemeClr val="accen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Instead of comparing sequentially, consider all pairs simultaneously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 sz="1800">
                <a:solidFill>
                  <a:schemeClr val="accent2"/>
                </a:solidFill>
              </a:rPr>
              <a:t>Brute Force</a:t>
            </a:r>
            <a:endParaRPr b="1" sz="1800"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sz="1800">
                <a:solidFill>
                  <a:schemeClr val="accent2"/>
                </a:solidFill>
              </a:rPr>
              <a:t>O(n^2)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 sz="1800">
                <a:solidFill>
                  <a:schemeClr val="accent2"/>
                </a:solidFill>
              </a:rPr>
              <a:t>Hashing:</a:t>
            </a:r>
            <a:endParaRPr b="1" sz="1800"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sz="1800">
                <a:solidFill>
                  <a:schemeClr val="accent2"/>
                </a:solidFill>
              </a:rPr>
              <a:t>O(n)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 sz="1800">
                <a:solidFill>
                  <a:schemeClr val="accent2"/>
                </a:solidFill>
              </a:rPr>
              <a:t>Limitations:</a:t>
            </a:r>
            <a:endParaRPr b="1" sz="1800"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sz="1800">
                <a:solidFill>
                  <a:schemeClr val="accent2"/>
                </a:solidFill>
              </a:rPr>
              <a:t>Sensitive to noise / transformations</a:t>
            </a:r>
            <a:endParaRPr sz="1800"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sz="1800">
                <a:solidFill>
                  <a:schemeClr val="accent2"/>
                </a:solidFill>
              </a:rPr>
              <a:t>Near-duplicates are hard</a:t>
            </a:r>
            <a:endParaRPr sz="1800"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sz="1800">
                <a:solidFill>
                  <a:schemeClr val="accent2"/>
                </a:solidFill>
              </a:rPr>
              <a:t>Brute force scales poorly for large datasets</a:t>
            </a:r>
            <a:endParaRPr sz="1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273" name="Google Shape;27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585525" y="276950"/>
            <a:ext cx="8391600" cy="9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Quantum Encoding + Oracle </a:t>
            </a:r>
            <a:endParaRPr sz="3400"/>
          </a:p>
        </p:txBody>
      </p:sp>
      <p:sp>
        <p:nvSpPr>
          <p:cNvPr id="279" name="Google Shape;279;p37"/>
          <p:cNvSpPr txBox="1"/>
          <p:nvPr>
            <p:ph idx="1" type="subTitle"/>
          </p:nvPr>
        </p:nvSpPr>
        <p:spPr>
          <a:xfrm>
            <a:off x="1357075" y="730850"/>
            <a:ext cx="7463100" cy="43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Represent image </a:t>
            </a:r>
            <a:r>
              <a:rPr lang="en" sz="1700">
                <a:solidFill>
                  <a:schemeClr val="accent2"/>
                </a:solidFill>
              </a:rPr>
              <a:t>patch</a:t>
            </a:r>
            <a:r>
              <a:rPr lang="en" sz="1700">
                <a:solidFill>
                  <a:schemeClr val="accent2"/>
                </a:solidFill>
              </a:rPr>
              <a:t> indices using two quantum registers: </a:t>
            </a:r>
            <a:endParaRPr sz="1700">
              <a:solidFill>
                <a:schemeClr val="accent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○"/>
            </a:pPr>
            <a:r>
              <a:rPr lang="en" sz="1700">
                <a:solidFill>
                  <a:schemeClr val="accent2"/>
                </a:solidFill>
              </a:rPr>
              <a:t> ∣ i ⟩∣ j ⟩ </a:t>
            </a:r>
            <a:endParaRPr sz="1700">
              <a:solidFill>
                <a:schemeClr val="accen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Create superposition of all possible pairs: </a:t>
            </a:r>
            <a:endParaRPr sz="1700">
              <a:solidFill>
                <a:schemeClr val="accent2"/>
              </a:solidFill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2"/>
              </a:solidFill>
            </a:endParaRPr>
          </a:p>
          <a:p>
            <a:pPr indent="-336550" lvl="0" marL="45720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   Each state represents a possible comparison between two image patches</a:t>
            </a:r>
            <a:endParaRPr sz="1700">
              <a:solidFill>
                <a:schemeClr val="accen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Oracle checks for matching patches:</a:t>
            </a:r>
            <a:endParaRPr sz="17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2"/>
              </a:solidFill>
            </a:endParaRPr>
          </a:p>
          <a:p>
            <a:pPr indent="-336550" lvl="0" marL="45720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Equality test performed using bitwise XOR: </a:t>
            </a:r>
            <a:endParaRPr sz="1700">
              <a:solidFill>
                <a:schemeClr val="accen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f(i, j) = </a:t>
            </a:r>
            <a:endParaRPr sz="1700">
              <a:solidFill>
                <a:schemeClr val="accen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accent2"/>
                </a:solidFill>
              </a:rPr>
              <a:t>Oracle marks valid pairs by phase flip:  </a:t>
            </a:r>
            <a:endParaRPr sz="17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2"/>
              </a:solidFill>
            </a:endParaRPr>
          </a:p>
          <a:p>
            <a:pPr indent="-336550" lvl="1" marL="91440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○"/>
            </a:pPr>
            <a:r>
              <a:t/>
            </a:r>
            <a:endParaRPr sz="1700">
              <a:solidFill>
                <a:schemeClr val="accent2"/>
              </a:solidFill>
            </a:endParaRPr>
          </a:p>
        </p:txBody>
      </p:sp>
      <p:sp>
        <p:nvSpPr>
          <p:cNvPr id="280" name="Google Shape;280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1" name="Google Shape;2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725" y="1861825"/>
            <a:ext cx="1130725" cy="653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7686" y="3192800"/>
            <a:ext cx="1198500" cy="5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-20668" y="124550"/>
            <a:ext cx="173068" cy="2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7"/>
          <p:cNvPicPr preferRelativeResize="0"/>
          <p:nvPr/>
        </p:nvPicPr>
        <p:blipFill rotWithShape="1">
          <a:blip r:embed="rId6">
            <a:alphaModFix/>
          </a:blip>
          <a:srcRect b="0" l="0" r="23547" t="0"/>
          <a:stretch/>
        </p:blipFill>
        <p:spPr>
          <a:xfrm>
            <a:off x="2640122" y="4057625"/>
            <a:ext cx="12597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8700" y="4362425"/>
            <a:ext cx="23431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 txBox="1"/>
          <p:nvPr>
            <p:ph type="title"/>
          </p:nvPr>
        </p:nvSpPr>
        <p:spPr>
          <a:xfrm>
            <a:off x="585525" y="276950"/>
            <a:ext cx="8391600" cy="9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Grover Amplification</a:t>
            </a:r>
            <a:endParaRPr sz="3400"/>
          </a:p>
        </p:txBody>
      </p:sp>
      <p:sp>
        <p:nvSpPr>
          <p:cNvPr id="291" name="Google Shape;291;p38"/>
          <p:cNvSpPr txBox="1"/>
          <p:nvPr>
            <p:ph idx="1" type="subTitle"/>
          </p:nvPr>
        </p:nvSpPr>
        <p:spPr>
          <a:xfrm>
            <a:off x="1760525" y="1318625"/>
            <a:ext cx="6656400" cy="20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Oracle marks correct pairs (phase flip)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Grover diffusion increases matching pairs probability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Reduces amplitude of non-matching pairs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292" name="Google Shape;29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668" y="124550"/>
            <a:ext cx="173068" cy="2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1248" y="2974775"/>
            <a:ext cx="1888576" cy="189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8750" y="2931568"/>
            <a:ext cx="1888576" cy="197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574325" y="400225"/>
            <a:ext cx="8391600" cy="9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Result &amp; Conclusion</a:t>
            </a:r>
            <a:endParaRPr sz="3400"/>
          </a:p>
        </p:txBody>
      </p:sp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1995925" y="1486725"/>
            <a:ext cx="6275400" cy="23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Grover’s algorithm amplifies the probability of correct matching pairs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Classical brute force Time Complexity: </a:t>
            </a:r>
            <a:endParaRPr sz="1800"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sz="1800">
                <a:solidFill>
                  <a:schemeClr val="accent2"/>
                </a:solidFill>
              </a:rPr>
              <a:t>O(n^2) 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Quantum Grover search </a:t>
            </a:r>
            <a:r>
              <a:rPr lang="en" sz="1800">
                <a:solidFill>
                  <a:schemeClr val="accent2"/>
                </a:solidFill>
              </a:rPr>
              <a:t>Time Complexity: </a:t>
            </a:r>
            <a:endParaRPr sz="1800"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sz="1800">
                <a:solidFill>
                  <a:schemeClr val="accent2"/>
                </a:solidFill>
              </a:rPr>
              <a:t>O(n) </a:t>
            </a:r>
            <a:endParaRPr sz="1800">
              <a:solidFill>
                <a:schemeClr val="accent2"/>
              </a:solidFill>
            </a:endParaRPr>
          </a:p>
          <a:p>
            <a:pPr indent="0" lvl="0" marL="91440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700">
              <a:solidFill>
                <a:schemeClr val="accent2"/>
              </a:solidFill>
            </a:endParaRPr>
          </a:p>
        </p:txBody>
      </p:sp>
      <p:sp>
        <p:nvSpPr>
          <p:cNvPr id="302" name="Google Shape;30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3" name="Google Shape;3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668" y="124550"/>
            <a:ext cx="173068" cy="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585525" y="276950"/>
            <a:ext cx="8391600" cy="9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Limitations &amp; Improvements</a:t>
            </a:r>
            <a:endParaRPr sz="3400"/>
          </a:p>
        </p:txBody>
      </p:sp>
      <p:sp>
        <p:nvSpPr>
          <p:cNvPr id="309" name="Google Shape;309;p40"/>
          <p:cNvSpPr txBox="1"/>
          <p:nvPr>
            <p:ph idx="1" type="subTitle"/>
          </p:nvPr>
        </p:nvSpPr>
        <p:spPr>
          <a:xfrm>
            <a:off x="1570050" y="1531525"/>
            <a:ext cx="7463100" cy="30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Requires quantum memory (QRAM assumption)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Data loading is expensive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Classical hashing may outperform for exact duplicates</a:t>
            </a:r>
            <a:endParaRPr sz="1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sz="1800">
                <a:solidFill>
                  <a:schemeClr val="accent2"/>
                </a:solidFill>
              </a:rPr>
              <a:t>Sensitive to noise (exact match required)</a:t>
            </a:r>
            <a:endParaRPr sz="1800">
              <a:solidFill>
                <a:schemeClr val="accent2"/>
              </a:solidFill>
            </a:endParaRPr>
          </a:p>
          <a:p>
            <a:pPr indent="0" lvl="0" marL="91440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700">
              <a:solidFill>
                <a:schemeClr val="accent2"/>
              </a:solidFill>
            </a:endParaRPr>
          </a:p>
        </p:txBody>
      </p:sp>
      <p:sp>
        <p:nvSpPr>
          <p:cNvPr id="310" name="Google Shape;31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1" name="Google Shape;3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668" y="124550"/>
            <a:ext cx="173068" cy="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684" l="0" r="0" t="7692"/>
          <a:stretch/>
        </p:blipFill>
        <p:spPr>
          <a:xfrm>
            <a:off x="-25" y="-13725"/>
            <a:ext cx="9144003" cy="5157301"/>
          </a:xfrm>
          <a:prstGeom prst="rect">
            <a:avLst/>
          </a:prstGeom>
        </p:spPr>
      </p:pic>
      <p:sp>
        <p:nvSpPr>
          <p:cNvPr id="317" name="Google Shape;317;p41"/>
          <p:cNvSpPr txBox="1"/>
          <p:nvPr>
            <p:ph type="title"/>
          </p:nvPr>
        </p:nvSpPr>
        <p:spPr>
          <a:xfrm>
            <a:off x="1653725" y="4014450"/>
            <a:ext cx="583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ntum Computing Major for College by Slidesgo">
  <a:themeElements>
    <a:clrScheme name="Simple Light">
      <a:dk1>
        <a:srgbClr val="FFFFE9"/>
      </a:dk1>
      <a:lt1>
        <a:srgbClr val="000000"/>
      </a:lt1>
      <a:dk2>
        <a:srgbClr val="D1E6F3"/>
      </a:dk2>
      <a:lt2>
        <a:srgbClr val="E6FFE6"/>
      </a:lt2>
      <a:accent1>
        <a:srgbClr val="BAC8D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